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9" r:id="rId1"/>
  </p:sldMasterIdLst>
  <p:sldIdLst>
    <p:sldId id="256" r:id="rId2"/>
    <p:sldId id="263" r:id="rId3"/>
    <p:sldId id="258" r:id="rId4"/>
    <p:sldId id="262" r:id="rId5"/>
    <p:sldId id="269" r:id="rId6"/>
    <p:sldId id="259" r:id="rId7"/>
    <p:sldId id="26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0C18"/>
    <a:srgbClr val="10080D"/>
    <a:srgbClr val="F8509C"/>
    <a:srgbClr val="D75790"/>
    <a:srgbClr val="E34B7A"/>
    <a:srgbClr val="E3D0E0"/>
    <a:srgbClr val="DECBD9"/>
    <a:srgbClr val="CDBCC7"/>
    <a:srgbClr val="FF90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44"/>
    <p:restoredTop sz="94726"/>
  </p:normalViewPr>
  <p:slideViewPr>
    <p:cSldViewPr snapToGrid="0">
      <p:cViewPr varScale="1">
        <p:scale>
          <a:sx n="82" d="100"/>
          <a:sy n="82" d="100"/>
        </p:scale>
        <p:origin x="168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01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82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44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63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10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72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0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74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1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4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40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7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932ADB5A-2162-5C42-AE73-158A97C1F20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C1A9A-2AF6-F949-8A8A-040C60EFD875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603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50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9D23-775C-EF61-8081-5C486A0A1B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cap="none" dirty="0"/>
              <a:t>Neighborhood Bus Access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0F6EA-E3FD-87B9-A885-1DE0FE5A8E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cap="none" dirty="0"/>
              <a:t>Julian Beckert</a:t>
            </a:r>
          </a:p>
        </p:txBody>
      </p:sp>
    </p:spTree>
    <p:extLst>
      <p:ext uri="{BB962C8B-B14F-4D97-AF65-F5344CB8AC3E}">
        <p14:creationId xmlns:p14="http://schemas.microsoft.com/office/powerpoint/2010/main" val="3480024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D0E0"/>
            </a:gs>
            <a:gs pos="100000">
              <a:srgbClr val="F8509C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8919F-F587-8894-DAEC-EECF6600A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C19A9CE-67A3-DEB3-82AF-981B27BF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378" y="400172"/>
            <a:ext cx="9905998" cy="82762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C8E0A-9D56-72CF-7D00-B2FA62341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3" y="1265887"/>
            <a:ext cx="3447654" cy="604363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/>
          <a:lstStyle/>
          <a:p>
            <a:r>
              <a:rPr lang="en-US" sz="2000" b="1" cap="none" dirty="0">
                <a:solidFill>
                  <a:schemeClr val="bg1"/>
                </a:solidFill>
              </a:rPr>
              <a:t>American Community Survey + Tract shapefiles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B72242-ABE1-77EA-74A6-4A0DA359FFC2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25117" y="2022648"/>
            <a:ext cx="3460418" cy="1650316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• Census; 2024 5-yr estimates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• Household size by vehicles available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• Household size by # of workers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• Means of transportation to work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• Demographics (population)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• Location join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D65172-C0AB-6852-65D2-C38A18137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51378" y="3825362"/>
            <a:ext cx="3434157" cy="604363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/>
          <a:lstStyle/>
          <a:p>
            <a:r>
              <a:rPr lang="en-US" sz="2000" b="1" cap="none" dirty="0">
                <a:solidFill>
                  <a:schemeClr val="bg1"/>
                </a:solidFill>
              </a:rPr>
              <a:t>Property shapes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D90E40-D02F-4A99-1378-B1ED2A81853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1138113" y="4582122"/>
            <a:ext cx="3446500" cy="1650317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• Montgomery Planning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Use: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• Mapping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• Quantifying access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C453D8-A8BF-AEA8-12B0-E0D74BD512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9185" y="1265887"/>
            <a:ext cx="3445571" cy="604363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/>
          <a:lstStyle/>
          <a:p>
            <a:r>
              <a:rPr lang="en-US" sz="2000" b="1" cap="none" dirty="0" err="1">
                <a:solidFill>
                  <a:schemeClr val="bg1"/>
                </a:solidFill>
              </a:rPr>
              <a:t>RideOn</a:t>
            </a:r>
            <a:r>
              <a:rPr lang="en-US" sz="2000" b="1" cap="none" dirty="0">
                <a:solidFill>
                  <a:schemeClr val="bg1"/>
                </a:solidFill>
              </a:rPr>
              <a:t> GTFS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2EDE8DC-B8BD-DB7B-F848-34F30FE49183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859185" y="2022648"/>
            <a:ext cx="3445571" cy="1650316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• Raw GTFS feed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Use for: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• Calendar of trips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• Mapping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• Location join &amp; analysis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• A lot of mutating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955F0E60-EB14-C973-C0E7-5A3CC3571F3D}"/>
              </a:ext>
            </a:extLst>
          </p:cNvPr>
          <p:cNvSpPr txBox="1">
            <a:spLocks/>
          </p:cNvSpPr>
          <p:nvPr/>
        </p:nvSpPr>
        <p:spPr>
          <a:xfrm>
            <a:off x="4859185" y="3825362"/>
            <a:ext cx="7161260" cy="2423039"/>
          </a:xfrm>
          <a:prstGeom prst="rect">
            <a:avLst/>
          </a:prstGeom>
          <a:noFill/>
          <a:ln w="28575">
            <a:gradFill>
              <a:gsLst>
                <a:gs pos="0">
                  <a:srgbClr val="F8509C">
                    <a:lumMod val="77000"/>
                    <a:lumOff val="23000"/>
                  </a:srgbClr>
                </a:gs>
                <a:gs pos="99000">
                  <a:srgbClr val="10080D"/>
                </a:gs>
              </a:gsLst>
              <a:lin ang="5400000" scaled="1"/>
            </a:gra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</a:rPr>
              <a:t>Cleaning was very involved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• Almost no NA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• Joins based on GIS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• Attention to detail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• AI was not helpful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CC2B54A-68DF-F149-0BD7-5B51FC5EE16C}"/>
              </a:ext>
            </a:extLst>
          </p:cNvPr>
          <p:cNvSpPr txBox="1">
            <a:spLocks/>
          </p:cNvSpPr>
          <p:nvPr/>
        </p:nvSpPr>
        <p:spPr>
          <a:xfrm>
            <a:off x="8574874" y="1265887"/>
            <a:ext cx="3445571" cy="604363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24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cap="none" dirty="0">
                <a:solidFill>
                  <a:schemeClr val="bg1"/>
                </a:solidFill>
              </a:rPr>
              <a:t>WMATA GTFS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ACEB73F-0BD0-3758-0549-13F335092448}"/>
              </a:ext>
            </a:extLst>
          </p:cNvPr>
          <p:cNvSpPr txBox="1">
            <a:spLocks/>
          </p:cNvSpPr>
          <p:nvPr/>
        </p:nvSpPr>
        <p:spPr>
          <a:xfrm>
            <a:off x="8574874" y="2022648"/>
            <a:ext cx="3445571" cy="1650316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• Raw GTFS feed</a:t>
            </a:r>
          </a:p>
        </p:txBody>
      </p:sp>
    </p:spTree>
    <p:extLst>
      <p:ext uri="{BB962C8B-B14F-4D97-AF65-F5344CB8AC3E}">
        <p14:creationId xmlns:p14="http://schemas.microsoft.com/office/powerpoint/2010/main" val="106340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50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map of a city&#10;&#10;AI-generated content may be incorrect.">
            <a:extLst>
              <a:ext uri="{FF2B5EF4-FFF2-40B4-BE49-F238E27FC236}">
                <a16:creationId xmlns:a16="http://schemas.microsoft.com/office/drawing/2014/main" id="{BFCBB7B0-8606-AB6D-E5CE-3F5DFFBF7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22" y="225283"/>
            <a:ext cx="10342820" cy="640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49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50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781FE-BD94-5785-5271-F53255AA1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6E08048-F39C-6D3B-F052-DE51C9F20ED8}"/>
              </a:ext>
            </a:extLst>
          </p:cNvPr>
          <p:cNvSpPr/>
          <p:nvPr/>
        </p:nvSpPr>
        <p:spPr>
          <a:xfrm>
            <a:off x="793315" y="0"/>
            <a:ext cx="793315" cy="6858000"/>
          </a:xfrm>
          <a:prstGeom prst="rect">
            <a:avLst/>
          </a:prstGeom>
          <a:solidFill>
            <a:srgbClr val="230C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9" name="Picture 18" descr="A graph of pink and black bars&#10;&#10;AI-generated content may be incorrect.">
            <a:extLst>
              <a:ext uri="{FF2B5EF4-FFF2-40B4-BE49-F238E27FC236}">
                <a16:creationId xmlns:a16="http://schemas.microsoft.com/office/drawing/2014/main" id="{1A1C0A26-61AC-A502-2F44-1367B5FE0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49" y="294986"/>
            <a:ext cx="10143282" cy="626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5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50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972E7-89B5-EFBB-3661-4F68AAF6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207C50-047A-8B3F-9B0F-EB921AA8AA9B}"/>
              </a:ext>
            </a:extLst>
          </p:cNvPr>
          <p:cNvSpPr/>
          <p:nvPr/>
        </p:nvSpPr>
        <p:spPr>
          <a:xfrm>
            <a:off x="793315" y="0"/>
            <a:ext cx="793315" cy="6858000"/>
          </a:xfrm>
          <a:prstGeom prst="rect">
            <a:avLst/>
          </a:prstGeom>
          <a:solidFill>
            <a:srgbClr val="230C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7EE31CF-0B74-2F93-DFDD-E6CED0461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96650" y="294986"/>
            <a:ext cx="10143280" cy="626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03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50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F415-108C-C59F-7EF9-EE007BDB5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and findings</a:t>
            </a:r>
            <a:endParaRPr lang="en-US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1A19A-2BC2-6376-BE52-214999AFA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60" y="1731818"/>
            <a:ext cx="8874883" cy="462741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67%</a:t>
            </a:r>
            <a:r>
              <a:rPr lang="en-US" dirty="0"/>
              <a:t> of homes (incl. apartment units) are in walking distance (0.25 miles) of a </a:t>
            </a:r>
            <a:r>
              <a:rPr lang="en-US" dirty="0" err="1"/>
              <a:t>RideOn</a:t>
            </a:r>
            <a:r>
              <a:rPr lang="en-US" dirty="0"/>
              <a:t> bus route</a:t>
            </a:r>
          </a:p>
          <a:p>
            <a:pPr lvl="1"/>
            <a:r>
              <a:rPr lang="en-US" b="1" dirty="0"/>
              <a:t>75%</a:t>
            </a:r>
            <a:r>
              <a:rPr lang="en-US" dirty="0"/>
              <a:t> in 0.5 miles</a:t>
            </a:r>
          </a:p>
          <a:p>
            <a:r>
              <a:rPr lang="en-US" b="1" dirty="0"/>
              <a:t>88%</a:t>
            </a:r>
            <a:r>
              <a:rPr lang="en-US" dirty="0"/>
              <a:t> of census tracts have ≥1 bus</a:t>
            </a:r>
          </a:p>
          <a:p>
            <a:r>
              <a:rPr lang="en-US" b="1" dirty="0"/>
              <a:t>84% </a:t>
            </a:r>
            <a:r>
              <a:rPr lang="en-US" dirty="0"/>
              <a:t>of tracts have weekend service</a:t>
            </a:r>
          </a:p>
          <a:p>
            <a:r>
              <a:rPr lang="en-US" b="1" dirty="0"/>
              <a:t>79%</a:t>
            </a:r>
            <a:r>
              <a:rPr lang="en-US" dirty="0"/>
              <a:t> of tracts have frequent service (&gt;100 trips/day)</a:t>
            </a:r>
          </a:p>
          <a:p>
            <a:r>
              <a:rPr lang="en-US" b="1" dirty="0"/>
              <a:t>14% </a:t>
            </a:r>
            <a:r>
              <a:rPr lang="en-US" dirty="0"/>
              <a:t>of households have less vehicles than workers</a:t>
            </a:r>
          </a:p>
          <a:p>
            <a:r>
              <a:rPr lang="en-US" b="1" dirty="0"/>
              <a:t>9% </a:t>
            </a:r>
            <a:r>
              <a:rPr lang="en-US" dirty="0"/>
              <a:t>of households have 0 vehicles</a:t>
            </a:r>
          </a:p>
          <a:p>
            <a:pPr marL="6160" indent="0">
              <a:buNone/>
            </a:pPr>
            <a:r>
              <a:rPr lang="en-US" dirty="0"/>
              <a:t>Correlation between “less vehicles than workers” + total </a:t>
            </a:r>
            <a:r>
              <a:rPr lang="en-US" dirty="0" err="1"/>
              <a:t>RideOn</a:t>
            </a:r>
            <a:r>
              <a:rPr lang="en-US"/>
              <a:t> routes</a:t>
            </a:r>
            <a:r>
              <a:rPr lang="en-US" dirty="0"/>
              <a:t>: p-value of almost 0 and adjusted R^2 of 0.19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95A9D8-BAF6-8F6E-876E-1B37C2A0AE30}"/>
              </a:ext>
            </a:extLst>
          </p:cNvPr>
          <p:cNvSpPr/>
          <p:nvPr/>
        </p:nvSpPr>
        <p:spPr>
          <a:xfrm>
            <a:off x="0" y="0"/>
            <a:ext cx="793315" cy="6858000"/>
          </a:xfrm>
          <a:prstGeom prst="rect">
            <a:avLst/>
          </a:prstGeom>
          <a:solidFill>
            <a:srgbClr val="F85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468A50-2BEB-72A0-C95F-F038AF3C4748}"/>
              </a:ext>
            </a:extLst>
          </p:cNvPr>
          <p:cNvSpPr/>
          <p:nvPr/>
        </p:nvSpPr>
        <p:spPr>
          <a:xfrm>
            <a:off x="11202444" y="0"/>
            <a:ext cx="989556" cy="6858000"/>
          </a:xfrm>
          <a:prstGeom prst="rect">
            <a:avLst/>
          </a:prstGeom>
          <a:solidFill>
            <a:srgbClr val="1008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8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50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E34D6-DB2F-4A4F-700C-26C81B7C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9B29CAE-9DBC-E011-4521-CBD1F60CEAE2}"/>
              </a:ext>
            </a:extLst>
          </p:cNvPr>
          <p:cNvSpPr txBox="1">
            <a:spLocks/>
          </p:cNvSpPr>
          <p:nvPr/>
        </p:nvSpPr>
        <p:spPr>
          <a:xfrm>
            <a:off x="2327560" y="1731818"/>
            <a:ext cx="8874883" cy="4627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New data to add:</a:t>
            </a:r>
          </a:p>
          <a:p>
            <a:pPr lvl="1"/>
            <a:r>
              <a:rPr lang="en-US" b="1" dirty="0" err="1"/>
              <a:t>RideOn</a:t>
            </a:r>
            <a:r>
              <a:rPr lang="en-US" b="1" dirty="0"/>
              <a:t> ridership </a:t>
            </a:r>
          </a:p>
          <a:p>
            <a:pPr lvl="2"/>
            <a:r>
              <a:rPr lang="en-US" dirty="0"/>
              <a:t>“Need vs response” analysis</a:t>
            </a:r>
          </a:p>
          <a:p>
            <a:pPr lvl="1"/>
            <a:r>
              <a:rPr lang="en-US" b="1" dirty="0"/>
              <a:t>Flash BRT stops </a:t>
            </a:r>
            <a:r>
              <a:rPr lang="en-US" dirty="0"/>
              <a:t>(ArcGIS)</a:t>
            </a:r>
          </a:p>
          <a:p>
            <a:pPr lvl="2"/>
            <a:r>
              <a:rPr lang="en-US" dirty="0"/>
              <a:t>Map, check correlation between BRT location &amp; need</a:t>
            </a:r>
          </a:p>
          <a:p>
            <a:r>
              <a:rPr lang="en-US" dirty="0"/>
              <a:t>Select neighborhoods with high need + low coverage:</a:t>
            </a:r>
          </a:p>
          <a:p>
            <a:pPr lvl="1"/>
            <a:r>
              <a:rPr lang="en-US" dirty="0"/>
              <a:t>Close to existing systems or planned BRT lines</a:t>
            </a:r>
          </a:p>
          <a:p>
            <a:pPr lvl="1"/>
            <a:r>
              <a:rPr lang="en-US" dirty="0"/>
              <a:t>In high-ridership areas</a:t>
            </a:r>
          </a:p>
          <a:p>
            <a:r>
              <a:rPr lang="en-US" dirty="0"/>
              <a:t>Create dashboard of findings &amp; understandable visualizations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96CCDD-8CB4-D504-D0CE-91BFF47B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Next steps…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F0631-4FE5-3E9F-8FBE-A38C6CE96DB9}"/>
              </a:ext>
            </a:extLst>
          </p:cNvPr>
          <p:cNvSpPr/>
          <p:nvPr/>
        </p:nvSpPr>
        <p:spPr>
          <a:xfrm>
            <a:off x="0" y="0"/>
            <a:ext cx="793315" cy="6858000"/>
          </a:xfrm>
          <a:prstGeom prst="rect">
            <a:avLst/>
          </a:prstGeom>
          <a:solidFill>
            <a:srgbClr val="F85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DC8936-D1D1-9AE2-9800-6D97C025913A}"/>
              </a:ext>
            </a:extLst>
          </p:cNvPr>
          <p:cNvSpPr/>
          <p:nvPr/>
        </p:nvSpPr>
        <p:spPr>
          <a:xfrm>
            <a:off x="11202444" y="0"/>
            <a:ext cx="989556" cy="6858000"/>
          </a:xfrm>
          <a:prstGeom prst="rect">
            <a:avLst/>
          </a:prstGeom>
          <a:solidFill>
            <a:srgbClr val="1008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10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Custom 10">
      <a:dk1>
        <a:srgbClr val="000000"/>
      </a:dk1>
      <a:lt1>
        <a:srgbClr val="FFFFFF"/>
      </a:lt1>
      <a:dk2>
        <a:srgbClr val="12070D"/>
      </a:dk2>
      <a:lt2>
        <a:srgbClr val="DCD8DC"/>
      </a:lt2>
      <a:accent1>
        <a:srgbClr val="E55762"/>
      </a:accent1>
      <a:accent2>
        <a:srgbClr val="762F36"/>
      </a:accent2>
      <a:accent3>
        <a:srgbClr val="C04A54"/>
      </a:accent3>
      <a:accent4>
        <a:srgbClr val="512226"/>
      </a:accent4>
      <a:accent5>
        <a:srgbClr val="2D1416"/>
      </a:accent5>
      <a:accent6>
        <a:srgbClr val="080808"/>
      </a:accent6>
      <a:hlink>
        <a:srgbClr val="F4AFB2"/>
      </a:hlink>
      <a:folHlink>
        <a:srgbClr val="B56C71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BCCF8060-3FCB-4641-B728-8A589529B1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2815</TotalTime>
  <Words>296</Words>
  <Application>Microsoft Macintosh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MS Shell Dlg 2</vt:lpstr>
      <vt:lpstr>Arial</vt:lpstr>
      <vt:lpstr>Wingdings</vt:lpstr>
      <vt:lpstr>Wingdings 3</vt:lpstr>
      <vt:lpstr>Madison</vt:lpstr>
      <vt:lpstr>Neighborhood Bus Access</vt:lpstr>
      <vt:lpstr>Data</vt:lpstr>
      <vt:lpstr>PowerPoint Presentation</vt:lpstr>
      <vt:lpstr>PowerPoint Presentation</vt:lpstr>
      <vt:lpstr>PowerPoint Presentation</vt:lpstr>
      <vt:lpstr>Analysis and findings</vt:lpstr>
      <vt:lpstr>Next steps…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Beckert, Julian S</dc:creator>
  <cp:lastModifiedBy>Beckert, Julian S</cp:lastModifiedBy>
  <cp:revision>310</cp:revision>
  <dcterms:created xsi:type="dcterms:W3CDTF">2026-04-14T14:14:57Z</dcterms:created>
  <dcterms:modified xsi:type="dcterms:W3CDTF">2026-05-04T15:27:03Z</dcterms:modified>
</cp:coreProperties>
</file>